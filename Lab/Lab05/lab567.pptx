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1428" r:id="rId3"/>
    <p:sldId id="1432" r:id="rId5"/>
    <p:sldId id="1421" r:id="rId6"/>
    <p:sldId id="1430" r:id="rId7"/>
    <p:sldId id="1408" r:id="rId8"/>
    <p:sldId id="1433" r:id="rId9"/>
    <p:sldId id="1434" r:id="rId10"/>
    <p:sldId id="1435" r:id="rId11"/>
    <p:sldId id="1436" r:id="rId12"/>
    <p:sldId id="1425" r:id="rId13"/>
    <p:sldId id="1438" r:id="rId14"/>
    <p:sldId id="1426" r:id="rId15"/>
    <p:sldId id="1440" r:id="rId16"/>
    <p:sldId id="143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D25297-8911-4547-2621-EF245503AF96}" name="Lin Yun" initials="LY" userId="7bb869474ab7606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5" autoAdjust="0"/>
    <p:restoredTop sz="89798" autoAdjust="0"/>
  </p:normalViewPr>
  <p:slideViewPr>
    <p:cSldViewPr snapToGrid="0">
      <p:cViewPr varScale="1">
        <p:scale>
          <a:sx n="82" d="100"/>
          <a:sy n="82" d="100"/>
        </p:scale>
        <p:origin x="573" y="6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microsoft.com/office/2018/10/relationships/authors" Target="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6371B-3B7D-4E31-BDE1-C945E11B88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92902-5904-4DF9-9634-4678E91AAD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77D08-588D-444E-B87E-84D4E29A86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B26D6-A95D-4F6A-93AE-4FEB6BEDA5C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474839"/>
            <a:ext cx="9144000" cy="1799304"/>
          </a:xfrm>
        </p:spPr>
        <p:txBody>
          <a:bodyPr anchor="b">
            <a:normAutofit/>
          </a:bodyPr>
          <a:lstStyle>
            <a:lvl1pPr algn="ctr">
              <a:defRPr sz="6000" b="1"/>
            </a:lvl1pPr>
          </a:lstStyle>
          <a:p>
            <a:r>
              <a:rPr lang="en-US" altLang="zh-CN" dirty="0"/>
              <a:t>Research Idea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770142"/>
            <a:ext cx="9144000" cy="1487657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Yun Lin</a:t>
            </a:r>
            <a:endParaRPr lang="en-US" dirty="0"/>
          </a:p>
          <a:p>
            <a:r>
              <a:rPr lang="en-US" dirty="0"/>
              <a:t>Shanghai Jiao Tong University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F8EE1-D93C-435C-A863-A5A3FE2C9F5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711" y="1332044"/>
            <a:ext cx="7790576" cy="2343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787" y="365760"/>
            <a:ext cx="447675" cy="13255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828799"/>
            <a:ext cx="10515600" cy="4351338"/>
          </a:xfrm>
          <a:noFill/>
        </p:spPr>
        <p:txBody>
          <a:bodyPr/>
          <a:lstStyle>
            <a:lvl1pPr>
              <a:lnSpc>
                <a:spcPct val="100000"/>
              </a:lnSpc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>
              <a:lnSpc>
                <a:spcPct val="100000"/>
              </a:lnSpc>
              <a:defRPr b="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54-A126-41CC-A00B-D3C14E225C7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43900" y="6356350"/>
            <a:ext cx="3016827" cy="365125"/>
          </a:xfrm>
        </p:spPr>
        <p:txBody>
          <a:bodyPr/>
          <a:lstStyle/>
          <a:p>
            <a:r>
              <a:rPr lang="en-US" altLang="zh-CN" dirty="0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73823" y="1837112"/>
            <a:ext cx="0" cy="4417842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473823" y="6254954"/>
            <a:ext cx="11263751" cy="4530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11737574" y="1837112"/>
            <a:ext cx="0" cy="4422372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44000">
                  <a:schemeClr val="accent1">
                    <a:lumMod val="45000"/>
                    <a:lumOff val="55000"/>
                  </a:schemeClr>
                </a:gs>
                <a:gs pos="75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DF651-9F75-425C-BF85-DBAFD203EC9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994BD-B1A4-4E5A-8172-A2BA6D487AE8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9856-2334-4BFF-89DB-5C487C057A18}" type="datetime1">
              <a:rPr lang="zh-CN" altLang="en-US" smtClean="0"/>
            </a:fld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E0380-55AC-4B08-855E-15B8E8C9670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2DA1C-DBC4-4785-86B6-8E6A3DF682C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DB9D5-2E96-40D9-B392-8EEC078F3848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52A89-4279-45D7-A88E-785654626E10}" type="datetime1">
              <a:rPr lang="zh-CN" altLang="en-US" smtClean="0"/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E778-6857-40A6-847A-73447B9F73A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722E9-D1A4-4D50-A996-00789AA217F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Title: A New Research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Point 1</a:t>
            </a:r>
            <a:endParaRPr lang="zh-CN" altLang="en-US" dirty="0"/>
          </a:p>
          <a:p>
            <a:pPr lvl="1"/>
            <a:r>
              <a:rPr lang="en-US" altLang="zh-CN" dirty="0"/>
              <a:t>Sub point 1</a:t>
            </a:r>
            <a:endParaRPr lang="zh-CN" altLang="en-US" dirty="0"/>
          </a:p>
          <a:p>
            <a:pPr lvl="2"/>
            <a:r>
              <a:rPr lang="en-US" altLang="zh-CN" dirty="0"/>
              <a:t>Sub </a:t>
            </a:r>
            <a:r>
              <a:rPr lang="en-US" altLang="zh-CN" dirty="0" err="1"/>
              <a:t>sub</a:t>
            </a:r>
            <a:r>
              <a:rPr lang="en-US" altLang="zh-CN" dirty="0"/>
              <a:t> point 1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9E2FB07-345C-4E18-B3DE-A1921BBCE8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62D19-9772-4ADB-A3A3-A2050D8C192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Arial Unicode MS" panose="020B0604020202020204" pitchFamily="34" charset="-122"/>
          <a:ea typeface="Arial Unicode MS" panose="020B0604020202020204" pitchFamily="34" charset="-122"/>
          <a:cs typeface="Arial Unicode MS" panose="020B0604020202020204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b="1" kern="1200">
          <a:solidFill>
            <a:schemeClr val="tx1"/>
          </a:solidFill>
          <a:latin typeface="Microsoft JhengHei UI Light" panose="020B0304030504040204" pitchFamily="34" charset="-120"/>
          <a:ea typeface="Microsoft JhengHei UI Light" panose="020B03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 baseline="0">
          <a:solidFill>
            <a:schemeClr val="tx1"/>
          </a:solidFill>
          <a:latin typeface="Microsoft YaHei UI Light" panose="020B0502040204020203" pitchFamily="34" charset="-122"/>
          <a:ea typeface="Microsoft YaHei UI Light" panose="020B0502040204020203" pitchFamily="34" charset="-122"/>
          <a:cs typeface="Arial Unicode MS" panose="020B0604020202020204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的使用：页面预览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运行结束后，</a:t>
            </a:r>
            <a:r>
              <a:rPr lang="zh-CN" sz="2000">
                <a:sym typeface="+mn-ea"/>
              </a:rPr>
              <a:t>单击画布上的</a:t>
            </a:r>
            <a:r>
              <a:rPr lang="en-US" altLang="zh-CN" sz="2000">
                <a:sym typeface="+mn-ea"/>
              </a:rPr>
              <a:t>Preview</a:t>
            </a:r>
            <a:r>
              <a:rPr lang="zh-CN" altLang="en-US" sz="2000">
                <a:sym typeface="+mn-ea"/>
              </a:rPr>
              <a:t>来预览</a:t>
            </a:r>
            <a:r>
              <a:rPr lang="en-US" altLang="zh-CN" sz="2000">
                <a:sym typeface="+mn-ea"/>
              </a:rPr>
              <a:t>web</a:t>
            </a:r>
            <a:r>
              <a:rPr lang="zh-CN" altLang="en-US" sz="2000">
                <a:sym typeface="+mn-ea"/>
              </a:rPr>
              <a:t>应用效果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4758" t="4083" r="537" b="49037"/>
          <a:stretch>
            <a:fillRect/>
          </a:stretch>
        </p:blipFill>
        <p:spPr>
          <a:xfrm>
            <a:off x="889635" y="1920240"/>
            <a:ext cx="10273030" cy="381444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500245" y="2305685"/>
            <a:ext cx="694055" cy="36512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的使用：页面预览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 dirty="0">
                <a:sym typeface="+mn-ea"/>
              </a:rPr>
              <a:t>另一种可用的方式是直接唤起命令面板</a:t>
            </a:r>
            <a:br>
              <a:rPr lang="zh-CN" altLang="en-US" sz="2000" dirty="0">
                <a:sym typeface="+mn-ea"/>
              </a:rPr>
            </a:br>
            <a:r>
              <a:rPr lang="zh-CN" altLang="en-US" sz="2000">
                <a:sym typeface="+mn-ea"/>
              </a:rPr>
              <a:t>在命令面板输入</a:t>
            </a:r>
            <a:r>
              <a:rPr lang="en-US" altLang="zh-CN" sz="2000">
                <a:sym typeface="+mn-ea"/>
              </a:rPr>
              <a:t> Open Web App Preview</a:t>
            </a:r>
            <a:r>
              <a:rPr lang="zh-CN" altLang="en-US" sz="2000">
                <a:sym typeface="+mn-ea"/>
              </a:rPr>
              <a:t>，同样可以唤起右侧的预览界面</a:t>
            </a:r>
            <a:endParaRPr lang="zh-CN" altLang="en-US" sz="2000">
              <a:sym typeface="+mn-ea"/>
            </a:endParaRPr>
          </a:p>
          <a:p>
            <a:r>
              <a:rPr lang="zh-CN" altLang="en-US" sz="2000" dirty="0">
                <a:sym typeface="+mn-ea"/>
              </a:rPr>
              <a:t>另外，你可以执行</a:t>
            </a:r>
            <a:r>
              <a:rPr lang="en-US" altLang="zh-CN" sz="2000" dirty="0">
                <a:sym typeface="+mn-ea"/>
              </a:rPr>
              <a:t> Stop Web App Preview</a:t>
            </a:r>
            <a:r>
              <a:rPr lang="zh-CN" altLang="en-US" sz="2000" dirty="0">
                <a:sym typeface="+mn-ea"/>
              </a:rPr>
              <a:t>，来手动关闭预览界面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32389" r="32093" b="90756"/>
          <a:stretch>
            <a:fillRect/>
          </a:stretch>
        </p:blipFill>
        <p:spPr>
          <a:xfrm>
            <a:off x="1229995" y="3230245"/>
            <a:ext cx="9273540" cy="14408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的使用：版本回溯</a:t>
            </a:r>
            <a:endParaRPr lang="en-US" altLang="zh-CN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32" t="3602" r="34293" b="39917"/>
          <a:stretch>
            <a:fillRect/>
          </a:stretch>
        </p:blipFill>
        <p:spPr>
          <a:xfrm>
            <a:off x="1522095" y="1322070"/>
            <a:ext cx="9162415" cy="472503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614295" y="3947795"/>
            <a:ext cx="593725" cy="21653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14295" y="4495165"/>
            <a:ext cx="1614170" cy="155194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的使用：版本回溯</a:t>
            </a:r>
            <a:endParaRPr lang="en-US" altLang="zh-CN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6788" b="6788"/>
          <a:stretch>
            <a:fillRect/>
          </a:stretch>
        </p:blipFill>
        <p:spPr>
          <a:xfrm>
            <a:off x="1522095" y="1322070"/>
            <a:ext cx="9162415" cy="472503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670175" y="2753995"/>
            <a:ext cx="927100" cy="16700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401685" y="3060700"/>
            <a:ext cx="2207260" cy="155194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dirty="0">
                <a:sym typeface="+mn-ea"/>
              </a:rPr>
              <a:t>增量编译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1</a:t>
            </a:r>
            <a:r>
              <a:rPr lang="zh-CN" altLang="en-US" sz="2000"/>
              <a:t>步：任选需求结点，单击左侧栏中的加号按钮，进入</a:t>
            </a:r>
            <a:r>
              <a:rPr lang="en-US" altLang="zh-CN" sz="2000"/>
              <a:t>requirement editor</a:t>
            </a:r>
            <a:r>
              <a:rPr lang="zh-CN" altLang="en-US" sz="2000"/>
              <a:t>界面</a:t>
            </a:r>
            <a:br>
              <a:rPr lang="zh-CN" altLang="en-US" sz="2000"/>
            </a:br>
            <a:endParaRPr lang="zh-CN" altLang="en-US" sz="2000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913" t="3648" r="74058" b="36037"/>
          <a:stretch>
            <a:fillRect/>
          </a:stretch>
        </p:blipFill>
        <p:spPr>
          <a:xfrm>
            <a:off x="845185" y="1844675"/>
            <a:ext cx="2646045" cy="41363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961005" y="2417445"/>
            <a:ext cx="346710" cy="36512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3018" t="3648" b="3222"/>
          <a:stretch>
            <a:fillRect/>
          </a:stretch>
        </p:blipFill>
        <p:spPr>
          <a:xfrm>
            <a:off x="4080510" y="1844675"/>
            <a:ext cx="7214870" cy="4135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dirty="0">
                <a:sym typeface="+mn-ea"/>
              </a:rPr>
              <a:t>增量编译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2</a:t>
            </a:r>
            <a:r>
              <a:rPr lang="zh-CN" altLang="en-US" sz="2000"/>
              <a:t>步：使用右上角</a:t>
            </a:r>
            <a:r>
              <a:rPr lang="en-US" altLang="zh-CN" sz="2000"/>
              <a:t>More-Add Children/Sibling</a:t>
            </a:r>
            <a:r>
              <a:rPr lang="zh-CN" altLang="en-US" sz="2000"/>
              <a:t>，按需增加节点</a:t>
            </a:r>
            <a:br>
              <a:rPr lang="zh-CN" altLang="en-US" sz="2000"/>
            </a:br>
            <a:endParaRPr lang="zh-CN" altLang="en-US" sz="2000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7667" t="6713" b="47288"/>
          <a:stretch>
            <a:fillRect/>
          </a:stretch>
        </p:blipFill>
        <p:spPr>
          <a:xfrm>
            <a:off x="958850" y="1888490"/>
            <a:ext cx="10309860" cy="39135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172575" y="2275205"/>
            <a:ext cx="1378585" cy="155194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dirty="0">
                <a:sym typeface="+mn-ea"/>
              </a:rPr>
              <a:t>增量编译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 dirty="0"/>
              <a:t>如增加一个与注册同级的节点（预定为登录）</a:t>
            </a:r>
            <a:endParaRPr lang="zh-CN" altLang="en-US" sz="2000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8203" b="18203"/>
          <a:stretch>
            <a:fillRect/>
          </a:stretch>
        </p:blipFill>
        <p:spPr>
          <a:xfrm>
            <a:off x="958850" y="1888490"/>
            <a:ext cx="10309860" cy="39135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dirty="0">
                <a:sym typeface="+mn-ea"/>
              </a:rPr>
              <a:t>增量编译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步：填写需求的具体描述</a:t>
            </a:r>
            <a:br>
              <a:rPr lang="zh-CN" altLang="en-US" sz="2000">
                <a:sym typeface="+mn-ea"/>
              </a:rPr>
            </a:br>
            <a:r>
              <a:rPr lang="zh-CN" altLang="en-US" sz="2000" dirty="0">
                <a:sym typeface="+mn-ea"/>
              </a:rPr>
              <a:t>一个健全的需求描述包含：</a:t>
            </a:r>
            <a:br>
              <a:rPr lang="zh-CN" altLang="en-US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标题</a:t>
            </a:r>
            <a:br>
              <a:rPr lang="zh-CN" altLang="en-US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依赖关系</a:t>
            </a:r>
            <a:br>
              <a:rPr lang="zh-CN" altLang="en-US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描述</a:t>
            </a:r>
            <a:br>
              <a:rPr lang="zh-CN" altLang="en-US" sz="2000" dirty="0">
                <a:sym typeface="+mn-ea"/>
              </a:rPr>
            </a:br>
            <a:r>
              <a:rPr lang="en-US" altLang="zh-CN" sz="2000" dirty="0">
                <a:sym typeface="+mn-ea"/>
              </a:rPr>
              <a:t>- </a:t>
            </a:r>
            <a:r>
              <a:rPr lang="zh-CN" altLang="en-US" sz="2000" dirty="0">
                <a:sym typeface="+mn-ea"/>
              </a:rPr>
              <a:t>若干</a:t>
            </a:r>
            <a:r>
              <a:rPr lang="en-US" altLang="zh-CN" sz="2000" dirty="0">
                <a:sym typeface="+mn-ea"/>
              </a:rPr>
              <a:t>scenarios</a:t>
            </a:r>
            <a:endParaRPr lang="en-US" altLang="zh-CN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913" t="10324" r="26003" b="6380"/>
          <a:stretch>
            <a:fillRect/>
          </a:stretch>
        </p:blipFill>
        <p:spPr>
          <a:xfrm>
            <a:off x="4690110" y="1383030"/>
            <a:ext cx="6715125" cy="469646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690110" y="1781175"/>
            <a:ext cx="2108835" cy="429831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dirty="0">
                <a:sym typeface="+mn-ea"/>
              </a:rPr>
              <a:t>增量编译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步：单击右上角</a:t>
            </a:r>
            <a:r>
              <a:rPr lang="en-US" altLang="zh-CN" sz="2000">
                <a:sym typeface="+mn-ea"/>
              </a:rPr>
              <a:t>Save</a:t>
            </a:r>
            <a:r>
              <a:rPr lang="zh-CN" altLang="en-US" sz="2000">
                <a:sym typeface="+mn-ea"/>
              </a:rPr>
              <a:t>，回到主画布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画布自动更新，此时执行</a:t>
            </a:r>
            <a:r>
              <a:rPr lang="en-US" altLang="zh-CN" sz="2000">
                <a:sym typeface="+mn-ea"/>
              </a:rPr>
              <a:t>Run</a:t>
            </a:r>
            <a:endParaRPr lang="en-US" altLang="zh-CN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82184" t="6713" b="88995"/>
          <a:stretch>
            <a:fillRect/>
          </a:stretch>
        </p:blipFill>
        <p:spPr>
          <a:xfrm>
            <a:off x="7317105" y="1276350"/>
            <a:ext cx="4001135" cy="57531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143490" y="1336040"/>
            <a:ext cx="742315" cy="51562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7716" t="6713" r="1199" b="43343"/>
          <a:stretch>
            <a:fillRect/>
          </a:stretch>
        </p:blipFill>
        <p:spPr>
          <a:xfrm>
            <a:off x="1467485" y="2124075"/>
            <a:ext cx="9257030" cy="38823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804795" y="4640580"/>
            <a:ext cx="1193800" cy="62103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11435" y="2164715"/>
            <a:ext cx="372110" cy="26225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的使用：交互式编译与迭代</a:t>
            </a:r>
            <a:endParaRPr lang="zh-CN" alt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ARC Visualizer</a:t>
            </a:r>
            <a:r>
              <a:rPr lang="zh-CN" altLang="en-US" sz="2000" dirty="0"/>
              <a:t>提供了一系列工具，用来追加</a:t>
            </a:r>
            <a:r>
              <a:rPr lang="en-US" altLang="zh-CN" sz="2000" dirty="0"/>
              <a:t>/</a:t>
            </a:r>
            <a:r>
              <a:rPr lang="zh-CN" altLang="en-US" sz="2000" dirty="0"/>
              <a:t>修改测试内容，以测试驱动的形式做迭代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023" t="3611" r="204" b="8083"/>
          <a:stretch>
            <a:fillRect/>
          </a:stretch>
        </p:blipFill>
        <p:spPr>
          <a:xfrm>
            <a:off x="2240915" y="1836420"/>
            <a:ext cx="7709535" cy="419862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240915" y="4019550"/>
            <a:ext cx="1297940" cy="201485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zh-CN" altLang="en-US" dirty="0">
                <a:sym typeface="+mn-ea"/>
              </a:rPr>
              <a:t>交互式编译与迭代</a:t>
            </a:r>
            <a:endParaRPr 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>
                <a:sym typeface="+mn-ea"/>
              </a:rPr>
              <a:t>第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步：选中一个基准需求，在这个需求下新增</a:t>
            </a:r>
            <a:r>
              <a:rPr lang="en-US" altLang="zh-CN" sz="2000">
                <a:sym typeface="+mn-ea"/>
              </a:rPr>
              <a:t>/</a:t>
            </a:r>
            <a:r>
              <a:rPr lang="zh-CN" altLang="en-US" sz="2000">
                <a:sym typeface="+mn-ea"/>
              </a:rPr>
              <a:t>修改测试。</a:t>
            </a:r>
            <a:br>
              <a:rPr lang="zh-CN" altLang="en-US" sz="2000">
                <a:sym typeface="+mn-ea"/>
              </a:rPr>
            </a:br>
            <a:r>
              <a:rPr lang="zh-CN" altLang="en-US" sz="2000" dirty="0">
                <a:sym typeface="+mn-ea"/>
              </a:rPr>
              <a:t>【新增测试的操作】</a:t>
            </a:r>
            <a:r>
              <a:rPr lang="en-US" altLang="zh-CN" sz="2000" dirty="0">
                <a:sym typeface="+mn-ea"/>
              </a:rPr>
              <a:t>				</a:t>
            </a:r>
            <a:r>
              <a:rPr lang="zh-CN" altLang="en-US" sz="2000" dirty="0">
                <a:sym typeface="+mn-ea"/>
              </a:rPr>
              <a:t>【修改测试的操作】</a:t>
            </a:r>
            <a:endParaRPr lang="zh-CN" altLang="en-US" sz="2000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096" t="50125" r="79754" b="6894"/>
          <a:stretch>
            <a:fillRect/>
          </a:stretch>
        </p:blipFill>
        <p:spPr>
          <a:xfrm>
            <a:off x="1351915" y="2100580"/>
            <a:ext cx="2689860" cy="3786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2642" t="50000" r="73743" b="7907"/>
          <a:stretch>
            <a:fillRect/>
          </a:stretch>
        </p:blipFill>
        <p:spPr>
          <a:xfrm>
            <a:off x="6546850" y="2100580"/>
            <a:ext cx="3615055" cy="38461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 dirty="0"/>
              <a:t>可能的生成结果：针对刚刚的测试追加，模型生成了</a:t>
            </a:r>
            <a:r>
              <a:rPr lang="en-US" altLang="zh-CN" sz="2000" dirty="0"/>
              <a:t>5</a:t>
            </a:r>
            <a:r>
              <a:rPr lang="zh-CN" altLang="en-US" sz="2000" dirty="0"/>
              <a:t>个新的测试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2752" t="28806" r="1304" b="7741"/>
          <a:stretch>
            <a:fillRect/>
          </a:stretch>
        </p:blipFill>
        <p:spPr>
          <a:xfrm>
            <a:off x="970280" y="1908810"/>
            <a:ext cx="10565765" cy="41706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70280" y="1908810"/>
            <a:ext cx="1779905" cy="228600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22335" y="3012440"/>
            <a:ext cx="3096260" cy="1087755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步：在左侧单击第一个按钮，选中要重新迭代的测试，并再次点击按钮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642" t="28620" r="1360" b="8630"/>
          <a:stretch>
            <a:fillRect/>
          </a:stretch>
        </p:blipFill>
        <p:spPr>
          <a:xfrm>
            <a:off x="735330" y="1903730"/>
            <a:ext cx="10515600" cy="41027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6435" y="1908810"/>
            <a:ext cx="2063750" cy="2346960"/>
          </a:xfrm>
          <a:prstGeom prst="rect">
            <a:avLst/>
          </a:prstGeom>
          <a:noFill/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ARC Visualizer</a:t>
            </a:r>
            <a:r>
              <a:rPr lang="zh-CN" altLang="en-US" dirty="0">
                <a:sym typeface="+mn-ea"/>
              </a:rPr>
              <a:t>的使用：</a:t>
            </a:r>
            <a:r>
              <a:rPr lang="en-US" dirty="0">
                <a:sym typeface="+mn-ea"/>
              </a:rPr>
              <a:t>Validation</a:t>
            </a:r>
            <a:endParaRPr lang="en-US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951" y="1383306"/>
            <a:ext cx="10515600" cy="4351338"/>
          </a:xfrm>
        </p:spPr>
        <p:txBody>
          <a:bodyPr/>
          <a:lstStyle/>
          <a:p>
            <a:r>
              <a:rPr lang="zh-CN" altLang="en-US" sz="2000"/>
              <a:t>最终可能的结果如下：</a:t>
            </a:r>
            <a:endParaRPr lang="zh-CN" altLang="en-US" sz="200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/>
              <a:t>LIN, Yun | Associate Professor | SJTU </a:t>
            </a:r>
            <a:fld id="{02462D19-9772-4ADB-A3A3-A2050D8C192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2019935"/>
            <a:ext cx="5480050" cy="3714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1931035"/>
            <a:ext cx="5184140" cy="722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3289935"/>
            <a:ext cx="5184140" cy="7213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60" y="4647565"/>
            <a:ext cx="5184775" cy="746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  <a:tailEnd type="none"/>
        </a:ln>
      </a:spPr>
      <a:bodyPr rtlCol="0" anchor="ctr"/>
      <a:lstStyle>
        <a:defPPr algn="ctr">
          <a:defRPr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1375</Words>
  <Application>WPS 演示</Application>
  <PresentationFormat>宽屏</PresentationFormat>
  <Paragraphs>88</Paragraphs>
  <Slides>14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Wingdings 2</vt:lpstr>
      <vt:lpstr>Microsoft YaHei UI</vt:lpstr>
      <vt:lpstr>Microsoft JhengHei UI Light</vt:lpstr>
      <vt:lpstr>Microsoft YaHei UI Light</vt:lpstr>
      <vt:lpstr>等线</vt:lpstr>
      <vt:lpstr>KSOF0A0B1BEB</vt:lpstr>
      <vt:lpstr>Segoe Print</vt:lpstr>
      <vt:lpstr>Calibri</vt:lpstr>
      <vt:lpstr>Arial Unicode MS</vt:lpstr>
      <vt:lpstr>KSOF0A0AA78C</vt:lpstr>
      <vt:lpstr>HDOfficeLightV0</vt:lpstr>
      <vt:lpstr>预览页面</vt:lpstr>
      <vt:lpstr>ARC Visualizer的使用：页面预览</vt:lpstr>
      <vt:lpstr>ARC Visualizer的使用：打开任务，配置API</vt:lpstr>
      <vt:lpstr>ARC Visualizer的使用：版本回溯</vt:lpstr>
      <vt:lpstr>ARC Visualizer的使用：打开任务，配置API</vt:lpstr>
      <vt:lpstr>ARC Visualizer的使用：增量编译</vt:lpstr>
      <vt:lpstr>ARC Visualizer的使用：增量编译</vt:lpstr>
      <vt:lpstr>ARC Visualizer的使用：增量编译</vt:lpstr>
      <vt:lpstr>ARC Visualizer的使用：增量编译</vt:lpstr>
      <vt:lpstr>ARC Visualizer的使用：Validation</vt:lpstr>
      <vt:lpstr>ARC Visualizer的使用：增量编译</vt:lpstr>
      <vt:lpstr>ARC Visualizer的使用：Validation</vt:lpstr>
      <vt:lpstr>ARC Visualizer的使用：Validation</vt:lpstr>
      <vt:lpstr>ARC Visualizer的使用：Validation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Yun Lin</dc:creator>
  <cp:lastModifiedBy>教铱铱铱铱</cp:lastModifiedBy>
  <cp:revision>1971</cp:revision>
  <dcterms:created xsi:type="dcterms:W3CDTF">2016-05-08T14:39:00Z</dcterms:created>
  <dcterms:modified xsi:type="dcterms:W3CDTF">2026-09-11T02:33:32Z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4476331FC70F41428694D2DB2AB535A4_13</vt:lpwstr>
  </property>
</Properties>
</file>