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20"/>
  </p:handoutMasterIdLst>
  <p:sldIdLst>
    <p:sldId id="1416" r:id="rId3"/>
    <p:sldId id="1417" r:id="rId4"/>
    <p:sldId id="1366" r:id="rId5"/>
    <p:sldId id="1421" r:id="rId6"/>
    <p:sldId id="1408" r:id="rId7"/>
    <p:sldId id="1371" r:id="rId8"/>
    <p:sldId id="1376" r:id="rId9"/>
    <p:sldId id="1372" r:id="rId10"/>
    <p:sldId id="1373" r:id="rId11"/>
    <p:sldId id="1375" r:id="rId12"/>
    <p:sldId id="1374" r:id="rId13"/>
    <p:sldId id="1428" r:id="rId15"/>
    <p:sldId id="1424" r:id="rId16"/>
    <p:sldId id="1425" r:id="rId17"/>
    <p:sldId id="1426" r:id="rId18"/>
    <p:sldId id="142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D25297-8911-4547-2621-EF245503AF96}" name="Lin Yun" initials="LY" userId="7bb869474ab7606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5" autoAdjust="0"/>
    <p:restoredTop sz="89798" autoAdjust="0"/>
  </p:normalViewPr>
  <p:slideViewPr>
    <p:cSldViewPr snapToGrid="0">
      <p:cViewPr varScale="1">
        <p:scale>
          <a:sx n="82" d="100"/>
          <a:sy n="82" d="100"/>
        </p:scale>
        <p:origin x="573" y="6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16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microsoft.com/office/2018/10/relationships/authors" Target="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6371B-3B7D-4E31-BDE1-C945E11B88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92902-5904-4DF9-9634-4678E91AAD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77D08-588D-444E-B87E-84D4E29A86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B26D6-A95D-4F6A-93AE-4FEB6BEDA5C4}" type="slidenum">
              <a:rPr lang="zh-CN" altLang="en-US" smtClean="0"/>
            </a:fld>
            <a:endParaRPr lang="zh-CN" altLang="en-US"/>
          </a:p>
        </p:txBody>
      </p:sp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B26D6-A95D-4F6A-93AE-4FEB6BEDA5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B26D6-A95D-4F6A-93AE-4FEB6BEDA5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474839"/>
            <a:ext cx="9144000" cy="1799304"/>
          </a:xfrm>
        </p:spPr>
        <p:txBody>
          <a:bodyPr anchor="b">
            <a:normAutofit/>
          </a:bodyPr>
          <a:lstStyle>
            <a:lvl1pPr algn="ctr">
              <a:defRPr sz="6000" b="1"/>
            </a:lvl1pPr>
          </a:lstStyle>
          <a:p>
            <a:r>
              <a:rPr lang="en-US" altLang="zh-CN" dirty="0"/>
              <a:t>Research Idea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770142"/>
            <a:ext cx="9144000" cy="148765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Yun Lin</a:t>
            </a:r>
            <a:endParaRPr lang="en-US" dirty="0"/>
          </a:p>
          <a:p>
            <a:r>
              <a:rPr lang="en-US" dirty="0"/>
              <a:t>Shanghai Jiao Tong University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F8EE1-D93C-435C-A863-A5A3FE2C9F5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11" y="1332044"/>
            <a:ext cx="7790576" cy="2343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787" y="365760"/>
            <a:ext cx="447675" cy="13255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27" y="1828799"/>
            <a:ext cx="10515600" cy="4351338"/>
          </a:xfrm>
          <a:noFill/>
        </p:spPr>
        <p:txBody>
          <a:bodyPr/>
          <a:lstStyle>
            <a:lvl1pPr>
              <a:lnSpc>
                <a:spcPct val="100000"/>
              </a:lnSpc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lnSpc>
                <a:spcPct val="100000"/>
              </a:lnSpc>
              <a:defRPr b="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54-A126-41CC-A00B-D3C14E225C7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43900" y="6356350"/>
            <a:ext cx="3016827" cy="365125"/>
          </a:xfrm>
        </p:spPr>
        <p:txBody>
          <a:bodyPr/>
          <a:lstStyle/>
          <a:p>
            <a:r>
              <a:rPr lang="en-US" altLang="zh-CN" dirty="0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73823" y="1837112"/>
            <a:ext cx="0" cy="4417842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473823" y="6254954"/>
            <a:ext cx="11263751" cy="453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737574" y="1837112"/>
            <a:ext cx="0" cy="4422372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DF651-9F75-425C-BF85-DBAFD203EC9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94BD-B1A4-4E5A-8172-A2BA6D487AE8}" type="datetime1">
              <a:rPr lang="zh-CN" altLang="en-US" smtClean="0"/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9856-2334-4BFF-89DB-5C487C057A18}" type="datetime1">
              <a:rPr lang="zh-CN" altLang="en-US" smtClean="0"/>
            </a:fld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E0380-55AC-4B08-855E-15B8E8C9670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A1C-DBC4-4785-86B6-8E6A3DF682C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DB9D5-2E96-40D9-B392-8EEC078F3848}" type="datetime1">
              <a:rPr lang="zh-CN" altLang="en-US" smtClean="0"/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2A89-4279-45D7-A88E-785654626E10}" type="datetime1">
              <a:rPr lang="zh-CN" altLang="en-US" smtClean="0"/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E778-6857-40A6-847A-73447B9F73A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22E9-D1A4-4D50-A996-00789AA217F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Title: A New Research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Point 1</a:t>
            </a:r>
            <a:endParaRPr lang="zh-CN" altLang="en-US" dirty="0"/>
          </a:p>
          <a:p>
            <a:pPr lvl="1"/>
            <a:r>
              <a:rPr lang="en-US" altLang="zh-CN" dirty="0"/>
              <a:t>Sub point 1</a:t>
            </a:r>
            <a:endParaRPr lang="zh-CN" altLang="en-US" dirty="0"/>
          </a:p>
          <a:p>
            <a:pPr lvl="2"/>
            <a:r>
              <a:rPr lang="en-US" altLang="zh-CN" dirty="0"/>
              <a:t>Sub </a:t>
            </a:r>
            <a:r>
              <a:rPr lang="en-US" altLang="zh-CN" dirty="0" err="1"/>
              <a:t>sub</a:t>
            </a:r>
            <a:r>
              <a:rPr lang="en-US" altLang="zh-CN" dirty="0"/>
              <a:t> point 1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9E2FB07-345C-4E18-B3DE-A1921BBCE8D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rial Unicode MS" panose="020B0604020202020204" pitchFamily="34" charset="-122"/>
          <a:ea typeface="Arial Unicode MS" panose="020B0604020202020204" pitchFamily="34" charset="-122"/>
          <a:cs typeface="Arial Unicode MS" panose="020B0604020202020204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b="1" kern="1200">
          <a:solidFill>
            <a:schemeClr val="tx1"/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 baseline="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Arial Unicode MS" panose="020B0604020202020204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hyperlink" Target="https://www.trae.c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的使用：相关材料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50111"/>
          <a:stretch>
            <a:fillRect/>
          </a:stretch>
        </p:blipFill>
        <p:spPr>
          <a:xfrm>
            <a:off x="940435" y="2875915"/>
            <a:ext cx="5692775" cy="2959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49750" b="50515"/>
          <a:stretch>
            <a:fillRect/>
          </a:stretch>
        </p:blipFill>
        <p:spPr>
          <a:xfrm>
            <a:off x="969010" y="1411605"/>
            <a:ext cx="5734050" cy="1464310"/>
          </a:xfrm>
          <a:prstGeom prst="rect">
            <a:avLst/>
          </a:prstGeom>
        </p:spPr>
      </p:pic>
      <p:pic>
        <p:nvPicPr>
          <p:cNvPr id="6" name="图片 5" descr="512e7b2696ff1f3016f0a92eb17a47df"/>
          <p:cNvPicPr>
            <a:picLocks noChangeAspect="1"/>
          </p:cNvPicPr>
          <p:nvPr/>
        </p:nvPicPr>
        <p:blipFill>
          <a:blip r:embed="rId2"/>
          <a:srcRect r="75792" b="58870"/>
          <a:stretch>
            <a:fillRect/>
          </a:stretch>
        </p:blipFill>
        <p:spPr>
          <a:xfrm>
            <a:off x="6923405" y="1411605"/>
            <a:ext cx="4328160" cy="43516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696835" y="2599690"/>
            <a:ext cx="3529965" cy="26606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96835" y="2865755"/>
            <a:ext cx="3529965" cy="26606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96835" y="3721735"/>
            <a:ext cx="3529965" cy="26606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60135" y="1794510"/>
            <a:ext cx="358775" cy="698500"/>
          </a:xfrm>
          <a:prstGeom prst="rect">
            <a:avLst/>
          </a:prstGeom>
          <a:noFill/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60135" y="3237865"/>
            <a:ext cx="358775" cy="698500"/>
          </a:xfrm>
          <a:prstGeom prst="rect">
            <a:avLst/>
          </a:prstGeom>
          <a:noFill/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60135" y="4743450"/>
            <a:ext cx="358775" cy="698500"/>
          </a:xfrm>
          <a:prstGeom prst="rect">
            <a:avLst/>
          </a:prstGeom>
          <a:noFill/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曲线连接符 17"/>
          <p:cNvCxnSpPr>
            <a:stCxn id="15" idx="3"/>
            <a:endCxn id="8" idx="1"/>
          </p:cNvCxnSpPr>
          <p:nvPr/>
        </p:nvCxnSpPr>
        <p:spPr>
          <a:xfrm>
            <a:off x="6518910" y="2143760"/>
            <a:ext cx="1177925" cy="589280"/>
          </a:xfrm>
          <a:prstGeom prst="curvedConnector3">
            <a:avLst>
              <a:gd name="adj1" fmla="val 5002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曲线连接符 18"/>
          <p:cNvCxnSpPr>
            <a:stCxn id="16" idx="3"/>
            <a:endCxn id="10" idx="1"/>
          </p:cNvCxnSpPr>
          <p:nvPr/>
        </p:nvCxnSpPr>
        <p:spPr>
          <a:xfrm flipV="1">
            <a:off x="6518910" y="2999105"/>
            <a:ext cx="1177925" cy="588010"/>
          </a:xfrm>
          <a:prstGeom prst="curvedConnector3">
            <a:avLst>
              <a:gd name="adj1" fmla="val 5002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19"/>
          <p:cNvCxnSpPr>
            <a:stCxn id="17" idx="3"/>
            <a:endCxn id="14" idx="1"/>
          </p:cNvCxnSpPr>
          <p:nvPr/>
        </p:nvCxnSpPr>
        <p:spPr>
          <a:xfrm flipV="1">
            <a:off x="6518910" y="3855085"/>
            <a:ext cx="1177925" cy="1237615"/>
          </a:xfrm>
          <a:prstGeom prst="curvedConnector3">
            <a:avLst>
              <a:gd name="adj1" fmla="val 5002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准备工作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en-SG" sz="2000" dirty="0"/>
              <a:t>1</a:t>
            </a:r>
            <a:r>
              <a:rPr lang="zh-CN" altLang="en-US" sz="2000"/>
              <a:t>步：环境配置</a:t>
            </a:r>
            <a:br>
              <a:rPr lang="zh-CN" altLang="en-US" sz="2000"/>
            </a:br>
            <a:r>
              <a:rPr lang="zh-CN" altLang="en-US" sz="2000"/>
              <a:t>分别</a:t>
            </a:r>
            <a:r>
              <a:rPr lang="zh-CN" altLang="en-US" sz="2000" dirty="0"/>
              <a:t>安装</a:t>
            </a:r>
            <a:r>
              <a:rPr lang="en-US" altLang="zh-CN" sz="2000" dirty="0"/>
              <a:t> python node npm git playwright </a:t>
            </a:r>
            <a:r>
              <a:rPr lang="zh-CN" altLang="en-US" sz="2000" dirty="0"/>
              <a:t>并验证</a:t>
            </a:r>
            <a:br>
              <a:rPr lang="zh-CN" altLang="en-US" sz="2000" dirty="0"/>
            </a:br>
            <a:r>
              <a:rPr lang="zh-CN" altLang="en-US" sz="2000" dirty="0"/>
              <a:t>并安装</a:t>
            </a:r>
            <a:r>
              <a:rPr lang="en-US" altLang="zh-CN" sz="2000" dirty="0"/>
              <a:t>IDE</a:t>
            </a:r>
            <a:r>
              <a:rPr lang="zh-CN" altLang="en-US" sz="2000" dirty="0"/>
              <a:t>：</a:t>
            </a:r>
            <a:r>
              <a:rPr lang="en-US" altLang="zh-CN" sz="2000" dirty="0"/>
              <a:t>VS Code </a:t>
            </a:r>
            <a:r>
              <a:rPr lang="zh-CN" altLang="en-US" sz="2000" dirty="0"/>
              <a:t>或</a:t>
            </a:r>
            <a:r>
              <a:rPr lang="en-US" altLang="zh-CN" sz="2000" dirty="0"/>
              <a:t> </a:t>
            </a:r>
            <a:r>
              <a:rPr lang="en-US" altLang="zh-CN" sz="2000" dirty="0">
                <a:hlinkClick r:id="rId1" tooltip="" action="ppaction://hlinkfile"/>
              </a:rPr>
              <a:t>trae(https://www.trae.cn/)</a:t>
            </a:r>
            <a:endParaRPr lang="en-US" altLang="zh-CN" sz="2000" dirty="0"/>
          </a:p>
        </p:txBody>
      </p:sp>
      <p:pic>
        <p:nvPicPr>
          <p:cNvPr id="7" name="图片 6" descr="a9448bd9581d15ec179a717e7685bf2b"/>
          <p:cNvPicPr>
            <a:picLocks noChangeAspect="1"/>
          </p:cNvPicPr>
          <p:nvPr/>
        </p:nvPicPr>
        <p:blipFill>
          <a:blip r:embed="rId2"/>
          <a:srcRect l="24221" t="51241" r="438" b="6741"/>
          <a:stretch>
            <a:fillRect/>
          </a:stretch>
        </p:blipFill>
        <p:spPr>
          <a:xfrm>
            <a:off x="845185" y="2447290"/>
            <a:ext cx="10639425" cy="35109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-174" b="58814"/>
          <a:stretch>
            <a:fillRect/>
          </a:stretch>
        </p:blipFill>
        <p:spPr>
          <a:xfrm>
            <a:off x="751840" y="1897380"/>
            <a:ext cx="10653395" cy="26073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的使用：安装插件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en-SG" sz="2000" dirty="0"/>
              <a:t>1</a:t>
            </a:r>
            <a:r>
              <a:rPr lang="zh-CN" altLang="en-US" sz="2000"/>
              <a:t>步：环境配置</a:t>
            </a:r>
            <a:r>
              <a:rPr lang="en-US" altLang="zh-CN" sz="2000"/>
              <a:t> - </a:t>
            </a:r>
            <a:r>
              <a:rPr lang="zh-CN" altLang="en-US" sz="2000"/>
              <a:t>安装</a:t>
            </a:r>
            <a:r>
              <a:rPr lang="en-US" altLang="zh-CN" sz="2000"/>
              <a:t> ARC Visualizer </a:t>
            </a:r>
            <a:r>
              <a:rPr lang="zh-CN" altLang="en-US" sz="2000"/>
              <a:t>扩展（插件）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65860" y="2922270"/>
            <a:ext cx="2101850" cy="49784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Content Placeholder 2"/>
          <p:cNvSpPr>
            <a:spLocks noGrp="1"/>
          </p:cNvSpPr>
          <p:nvPr/>
        </p:nvSpPr>
        <p:spPr>
          <a:xfrm>
            <a:off x="844550" y="4631690"/>
            <a:ext cx="10515600" cy="122999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 2" panose="05020102010507070707" pitchFamily="18" charset="2"/>
              <a:buChar char=""/>
              <a:defRPr sz="2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400" b="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000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 Unicode MS" panose="020B0604020202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/>
          </a:p>
          <a:p>
            <a:r>
              <a:rPr lang="zh-CN" altLang="en-US" sz="2000"/>
              <a:t>快速确认扩展安装成功：检查左侧工具栏，新增条目</a:t>
            </a:r>
            <a:endParaRPr lang="en-SG" dirty="0"/>
          </a:p>
          <a:p>
            <a:endParaRPr lang="en-SG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67" t="46866" r="96986" b="48677"/>
          <a:stretch>
            <a:fillRect/>
          </a:stretch>
        </p:blipFill>
        <p:spPr>
          <a:xfrm flipH="1">
            <a:off x="7333615" y="5082540"/>
            <a:ext cx="495300" cy="44704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333615" y="5082540"/>
            <a:ext cx="495300" cy="44704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4710" y="2424430"/>
            <a:ext cx="4545965" cy="115697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的使用：打开任务，配置</a:t>
            </a:r>
            <a:r>
              <a:rPr lang="en-US" altLang="zh-CN" dirty="0">
                <a:sym typeface="+mn-ea"/>
              </a:rPr>
              <a:t>API</a:t>
            </a:r>
            <a:endParaRPr lang="en-US" alt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步：在</a:t>
            </a:r>
            <a:r>
              <a:rPr lang="en-US" altLang="zh-CN" sz="2000">
                <a:sym typeface="+mn-ea"/>
              </a:rPr>
              <a:t>VS Code</a:t>
            </a:r>
            <a:r>
              <a:rPr lang="zh-CN" altLang="en-US" sz="2000">
                <a:sym typeface="+mn-ea"/>
              </a:rPr>
              <a:t>打开</a:t>
            </a:r>
            <a:r>
              <a:rPr lang="en-US" altLang="zh-CN" sz="2000">
                <a:sym typeface="+mn-ea"/>
              </a:rPr>
              <a:t> output </a:t>
            </a:r>
            <a:r>
              <a:rPr lang="zh-CN" altLang="en-US" sz="2000">
                <a:sym typeface="+mn-ea"/>
              </a:rPr>
              <a:t>目录，</a:t>
            </a:r>
            <a:br>
              <a:rPr lang="zh-CN" altLang="en-US" sz="2000">
                <a:sym typeface="+mn-ea"/>
              </a:rPr>
            </a:br>
            <a:r>
              <a:rPr lang="en-US" altLang="zh-CN" sz="2000">
                <a:sym typeface="+mn-ea"/>
              </a:rPr>
              <a:t>Ctrl + Shift + P</a:t>
            </a:r>
            <a:r>
              <a:rPr lang="zh-CN" altLang="en-US" sz="2000">
                <a:sym typeface="+mn-ea"/>
              </a:rPr>
              <a:t>，唤起命令行执行</a:t>
            </a:r>
            <a:r>
              <a:rPr lang="en-US" altLang="zh-CN" sz="2000">
                <a:sym typeface="+mn-ea"/>
              </a:rPr>
              <a:t> Select ARC Source Directory</a:t>
            </a:r>
            <a:endParaRPr lang="en-US" altLang="zh-CN" sz="2000" b="1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32116" r="32187" b="92444"/>
          <a:stretch>
            <a:fillRect/>
          </a:stretch>
        </p:blipFill>
        <p:spPr>
          <a:xfrm>
            <a:off x="1816100" y="2224405"/>
            <a:ext cx="8750300" cy="1105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10344" b="70130"/>
          <a:stretch>
            <a:fillRect/>
          </a:stretch>
        </p:blipFill>
        <p:spPr>
          <a:xfrm>
            <a:off x="889635" y="3937000"/>
            <a:ext cx="10391775" cy="2048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的使用：打开任务，配置</a:t>
            </a:r>
            <a:r>
              <a:rPr lang="en-US" altLang="zh-CN" dirty="0">
                <a:sym typeface="+mn-ea"/>
              </a:rPr>
              <a:t>API</a:t>
            </a:r>
            <a:endParaRPr lang="en-US" alt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3</a:t>
            </a:r>
            <a:r>
              <a:rPr lang="zh-CN" altLang="en-US" sz="2000"/>
              <a:t>步：</a:t>
            </a:r>
            <a:r>
              <a:rPr lang="zh-CN" sz="2000"/>
              <a:t>然后</a:t>
            </a:r>
            <a:r>
              <a:rPr lang="zh-CN" altLang="en-US" sz="2000"/>
              <a:t>打开设置</a:t>
            </a:r>
            <a:r>
              <a:rPr lang="en-US" altLang="zh-CN" sz="2000"/>
              <a:t>-</a:t>
            </a:r>
            <a:r>
              <a:rPr lang="zh-CN" altLang="en-US" sz="2000"/>
              <a:t>扩展，来填写设置</a:t>
            </a:r>
            <a:br>
              <a:rPr lang="zh-CN" altLang="en-US" sz="2000"/>
            </a:br>
            <a:endParaRPr lang="zh-CN" altLang="en-US" sz="2000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64063" r="80684"/>
          <a:stretch>
            <a:fillRect/>
          </a:stretch>
        </p:blipFill>
        <p:spPr>
          <a:xfrm>
            <a:off x="889635" y="2222500"/>
            <a:ext cx="3308350" cy="36741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0" y="1993265"/>
            <a:ext cx="5626100" cy="3854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的使用：导入需求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4</a:t>
            </a:r>
            <a:r>
              <a:rPr lang="zh-CN" altLang="en-US" sz="2000"/>
              <a:t>步： </a:t>
            </a:r>
            <a:r>
              <a:rPr lang="en-US" altLang="zh-CN" sz="2000"/>
              <a:t>Ctrl + Shift + P </a:t>
            </a:r>
            <a:r>
              <a:rPr lang="zh-CN" altLang="en-US" sz="2000"/>
              <a:t>唤起命令面板，键入命令</a:t>
            </a:r>
            <a:r>
              <a:rPr lang="en-US" altLang="zh-CN" sz="2000"/>
              <a:t>Import Requirement Directory，</a:t>
            </a:r>
            <a:r>
              <a:rPr lang="zh-CN" altLang="en-US" sz="2000"/>
              <a:t>将</a:t>
            </a:r>
            <a:r>
              <a:rPr lang="en-US" altLang="zh-CN" sz="2000"/>
              <a:t>lesson\requirement</a:t>
            </a:r>
            <a:r>
              <a:rPr lang="zh-CN" altLang="en-US" sz="2000"/>
              <a:t>目录下的需求信息导入到当前目录</a:t>
            </a:r>
            <a:endParaRPr lang="zh-CN" altLang="en-US" sz="2000"/>
          </a:p>
          <a:p>
            <a:endParaRPr lang="zh-CN" altLang="en-US" sz="200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31861" r="31546" b="92657"/>
          <a:stretch>
            <a:fillRect/>
          </a:stretch>
        </p:blipFill>
        <p:spPr>
          <a:xfrm>
            <a:off x="2249656" y="2145916"/>
            <a:ext cx="7351059" cy="880335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/>
        </p:nvSpPr>
        <p:spPr>
          <a:xfrm>
            <a:off x="889635" y="3369945"/>
            <a:ext cx="10515600" cy="8051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 2" panose="05020102010507070707" pitchFamily="18" charset="2"/>
              <a:buChar char=""/>
              <a:defRPr sz="2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400" b="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000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 Unicode MS" panose="020B0604020202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/>
              <a:t>确认导入后，输出目录下会</a:t>
            </a:r>
            <a:r>
              <a:rPr lang="zh-CN" altLang="en-US" sz="2000" b="1"/>
              <a:t>自动</a:t>
            </a:r>
            <a:r>
              <a:rPr lang="zh-CN" altLang="en-US" sz="2000"/>
              <a:t>新增</a:t>
            </a:r>
            <a:r>
              <a:rPr lang="en-US" altLang="zh-CN" sz="2000"/>
              <a:t>.arc\requirement</a:t>
            </a:r>
            <a:r>
              <a:rPr lang="zh-CN" altLang="en-US" sz="2000"/>
              <a:t>目录，此时画布自动加载</a:t>
            </a:r>
            <a:br>
              <a:rPr lang="zh-CN" altLang="en-US" sz="2000"/>
            </a:br>
            <a:r>
              <a:rPr lang="zh-CN" altLang="en-US" sz="2000">
                <a:solidFill>
                  <a:schemeClr val="tx1"/>
                </a:solidFill>
              </a:rPr>
              <a:t>如果没有加载，手动在命令面板输入</a:t>
            </a:r>
            <a:r>
              <a:rPr lang="en-US" altLang="zh-CN" sz="2000">
                <a:solidFill>
                  <a:schemeClr val="tx1"/>
                </a:solidFill>
              </a:rPr>
              <a:t>Open Canvas</a:t>
            </a:r>
            <a:r>
              <a:rPr lang="zh-CN" altLang="en-US" sz="2000">
                <a:solidFill>
                  <a:schemeClr val="tx1"/>
                </a:solidFill>
              </a:rPr>
              <a:t>并点击</a:t>
            </a:r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l="31756" r="31817" b="92926"/>
          <a:stretch>
            <a:fillRect/>
          </a:stretch>
        </p:blipFill>
        <p:spPr>
          <a:xfrm>
            <a:off x="2249925" y="4429125"/>
            <a:ext cx="7263795" cy="8422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</a:t>
            </a:r>
            <a:r>
              <a:rPr lang="zh-CN" altLang="en-US" dirty="0">
                <a:sym typeface="+mn-ea"/>
              </a:rPr>
              <a:t>：导入需求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此时画布形如：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5716" t="4519" b="22315"/>
          <a:stretch>
            <a:fillRect/>
          </a:stretch>
        </p:blipFill>
        <p:spPr>
          <a:xfrm>
            <a:off x="2992755" y="1427480"/>
            <a:ext cx="80016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的使用：运行</a:t>
            </a:r>
            <a:r>
              <a:rPr lang="en-US" altLang="zh-CN" dirty="0">
                <a:sym typeface="+mn-ea"/>
              </a:rPr>
              <a:t>ARC</a:t>
            </a:r>
            <a:endParaRPr lang="en-US" alt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5</a:t>
            </a:r>
            <a:r>
              <a:rPr lang="zh-CN" altLang="en-US" sz="2000"/>
              <a:t>步：运行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25716" t="4519" b="22315"/>
          <a:stretch>
            <a:fillRect/>
          </a:stretch>
        </p:blipFill>
        <p:spPr>
          <a:xfrm>
            <a:off x="2992755" y="1427480"/>
            <a:ext cx="8001635" cy="46634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366076" y="1691266"/>
            <a:ext cx="353695" cy="334234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的使用：运行中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通过观察实时更新的画布信息，了解各个节点的生成效果</a:t>
            </a:r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3565" b="20528"/>
          <a:stretch>
            <a:fillRect/>
          </a:stretch>
        </p:blipFill>
        <p:spPr>
          <a:xfrm>
            <a:off x="1634490" y="1899920"/>
            <a:ext cx="8936355" cy="4048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</a:t>
            </a:r>
            <a:r>
              <a:rPr lang="zh-CN" altLang="en-US" dirty="0">
                <a:sym typeface="+mn-ea"/>
              </a:rPr>
              <a:t>：运行中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通过观察实时更新的画布信息，了解各个节点的生成效果</a:t>
            </a:r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3565" b="53648"/>
          <a:stretch>
            <a:fillRect/>
          </a:stretch>
        </p:blipFill>
        <p:spPr>
          <a:xfrm>
            <a:off x="1634490" y="1899920"/>
            <a:ext cx="8936355" cy="228219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889635" y="4342130"/>
            <a:ext cx="10515600" cy="11557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 2" panose="05020102010507070707" pitchFamily="18" charset="2"/>
              <a:buChar char=""/>
              <a:defRPr sz="2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400" b="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000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 Unicode MS" panose="020B0604020202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/>
              <a:t>如有必要，通过命令中止</a:t>
            </a:r>
            <a:r>
              <a:rPr lang="en-US" altLang="zh-CN" sz="2000"/>
              <a:t>ARC Compile</a:t>
            </a:r>
            <a:r>
              <a:rPr lang="zh-CN" altLang="en-US" sz="2000"/>
              <a:t>，支持断点续跑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32132" r="31441" b="92565"/>
          <a:stretch>
            <a:fillRect/>
          </a:stretch>
        </p:blipFill>
        <p:spPr>
          <a:xfrm>
            <a:off x="2053590" y="4833620"/>
            <a:ext cx="8187690" cy="997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运行结果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>
                <a:sym typeface="+mn-ea"/>
              </a:rPr>
              <a:t>运行结束后，通过测试节点的状态（红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绿）或画布左下方面板观察测试用例状态，检查测试用例通过率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7904" y="1897660"/>
            <a:ext cx="5119304" cy="41478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51" y="4254381"/>
            <a:ext cx="2258845" cy="5987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49500" y="3048248"/>
            <a:ext cx="2178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此处表示，测试驱动过程中模型生成的测试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预览页面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>
                <a:sym typeface="+mn-ea"/>
              </a:rPr>
              <a:t>运行结束后，</a:t>
            </a:r>
            <a:r>
              <a:rPr lang="zh-CN" sz="2000">
                <a:sym typeface="+mn-ea"/>
              </a:rPr>
              <a:t>单击画布上的</a:t>
            </a:r>
            <a:r>
              <a:rPr lang="en-US" altLang="zh-CN" sz="2000">
                <a:sym typeface="+mn-ea"/>
              </a:rPr>
              <a:t>Preview</a:t>
            </a:r>
            <a:r>
              <a:rPr lang="zh-CN" altLang="en-US" sz="2000">
                <a:sym typeface="+mn-ea"/>
              </a:rPr>
              <a:t>来预览</a:t>
            </a:r>
            <a:r>
              <a:rPr lang="en-US" altLang="zh-CN" sz="2000">
                <a:sym typeface="+mn-ea"/>
              </a:rPr>
              <a:t>web</a:t>
            </a:r>
            <a:r>
              <a:rPr lang="zh-CN" altLang="en-US" sz="2000">
                <a:sym typeface="+mn-ea"/>
              </a:rPr>
              <a:t>应用效果</a:t>
            </a:r>
            <a:endParaRPr lang="zh-CN" altLang="en-US" sz="2000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4758" t="4083" r="537" b="49037"/>
          <a:stretch>
            <a:fillRect/>
          </a:stretch>
        </p:blipFill>
        <p:spPr>
          <a:xfrm>
            <a:off x="889635" y="1920240"/>
            <a:ext cx="10273030" cy="381444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500245" y="2305685"/>
            <a:ext cx="694055" cy="36512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en-US" dirty="0">
                <a:sym typeface="+mn-ea"/>
              </a:rPr>
              <a:t>Validation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6</a:t>
            </a:r>
            <a:r>
              <a:rPr lang="zh-CN" altLang="en-US" sz="2000"/>
              <a:t>步：在命令面板输入</a:t>
            </a:r>
            <a:r>
              <a:rPr lang="en-US" altLang="zh-CN" sz="2000"/>
              <a:t> Import Validation Test Cases</a:t>
            </a:r>
            <a:r>
              <a:rPr lang="zh-CN" altLang="en-US" sz="2000"/>
              <a:t>，导入验证集</a:t>
            </a:r>
            <a:endParaRPr lang="zh-CN" altLang="en-US" sz="2000"/>
          </a:p>
          <a:p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第</a:t>
            </a:r>
            <a:r>
              <a:rPr lang="en-US" altLang="zh-CN" sz="2000" dirty="0"/>
              <a:t>7</a:t>
            </a:r>
            <a:r>
              <a:rPr lang="zh-CN" altLang="en-US" sz="2000" dirty="0"/>
              <a:t>步：在命令面板输入</a:t>
            </a:r>
            <a:r>
              <a:rPr lang="en-US" altLang="zh-CN" sz="2000" dirty="0"/>
              <a:t> Run Validation Tests</a:t>
            </a:r>
            <a:r>
              <a:rPr lang="zh-CN" altLang="en-US" sz="2000" dirty="0"/>
              <a:t>，测试验证集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8845" r="28850" b="91481"/>
          <a:stretch>
            <a:fillRect/>
          </a:stretch>
        </p:blipFill>
        <p:spPr>
          <a:xfrm>
            <a:off x="1506220" y="1815465"/>
            <a:ext cx="9193530" cy="1095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29102" r="28910" b="91593"/>
          <a:stretch>
            <a:fillRect/>
          </a:stretch>
        </p:blipFill>
        <p:spPr>
          <a:xfrm>
            <a:off x="1506220" y="3599815"/>
            <a:ext cx="9244965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en-US" dirty="0">
                <a:sym typeface="+mn-ea"/>
              </a:rPr>
              <a:t>Validation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输出内容形如：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24500" t="51176"/>
          <a:stretch>
            <a:fillRect/>
          </a:stretch>
        </p:blipFill>
        <p:spPr>
          <a:xfrm>
            <a:off x="966470" y="2025650"/>
            <a:ext cx="10259060" cy="39255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en-US" dirty="0">
                <a:sym typeface="+mn-ea"/>
              </a:rPr>
              <a:t>Validation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8</a:t>
            </a:r>
            <a:r>
              <a:rPr lang="zh-CN" altLang="en-US" sz="2000"/>
              <a:t>步：在命令面板输入</a:t>
            </a:r>
            <a:r>
              <a:rPr lang="en-US" altLang="zh-CN" sz="2000"/>
              <a:t> </a:t>
            </a:r>
            <a:r>
              <a:rPr lang="en-US" sz="2000"/>
              <a:t>Open Validation Results</a:t>
            </a:r>
            <a:endParaRPr lang="zh-CN" altLang="en-US" sz="200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530" y="1765935"/>
            <a:ext cx="9194800" cy="1098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en-US" dirty="0">
                <a:sym typeface="+mn-ea"/>
              </a:rPr>
              <a:t>Validation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反馈内容形如：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61376" t="3759" b="44500"/>
          <a:stretch>
            <a:fillRect/>
          </a:stretch>
        </p:blipFill>
        <p:spPr>
          <a:xfrm>
            <a:off x="3302000" y="1383030"/>
            <a:ext cx="5691505" cy="4511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  <a:tailEnd type="none"/>
        </a:ln>
      </a:spPr>
      <a:bodyPr rtlCol="0" anchor="ctr"/>
      <a:lstStyle>
        <a:defPPr algn="ctr">
          <a:defRPr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1695</Words>
  <Application>WPS 演示</Application>
  <PresentationFormat>宽屏</PresentationFormat>
  <Paragraphs>115</Paragraphs>
  <Slides>16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Wingdings 2</vt:lpstr>
      <vt:lpstr>Microsoft YaHei UI</vt:lpstr>
      <vt:lpstr>Microsoft JhengHei UI Light</vt:lpstr>
      <vt:lpstr>Microsoft YaHei UI Light</vt:lpstr>
      <vt:lpstr>等线</vt:lpstr>
      <vt:lpstr>KSOF0A0B1BEB</vt:lpstr>
      <vt:lpstr>Segoe Print</vt:lpstr>
      <vt:lpstr>Calibri</vt:lpstr>
      <vt:lpstr>Arial Unicode MS</vt:lpstr>
      <vt:lpstr>KSOF0A0AA78C</vt:lpstr>
      <vt:lpstr>HDOfficeLightV0</vt:lpstr>
      <vt:lpstr>ARC Visualizer的使用：相关材料</vt:lpstr>
      <vt:lpstr>准备工作</vt:lpstr>
      <vt:lpstr>ARC Visualizer的使用：安装插件</vt:lpstr>
      <vt:lpstr>ARC Visualizer的使用：打开任务，配置API</vt:lpstr>
      <vt:lpstr>ARC Visualizer的使用：打开任务，配置API</vt:lpstr>
      <vt:lpstr>ARC Visualizer的使用：导入需求</vt:lpstr>
      <vt:lpstr>ARC Visualizer的使用：导入需求</vt:lpstr>
      <vt:lpstr>ARC Visualizer的使用：运行ARC</vt:lpstr>
      <vt:lpstr>ARC Visualizer的使用：运行中</vt:lpstr>
      <vt:lpstr>ARC Visualizer的使用：运行中</vt:lpstr>
      <vt:lpstr>运行结果</vt:lpstr>
      <vt:lpstr>运行结果</vt:lpstr>
      <vt:lpstr>ARC Visualizer的使用：运行ARC</vt:lpstr>
      <vt:lpstr>ARC Visualizer的使用：Validation</vt:lpstr>
      <vt:lpstr>ARC Visualizer的使用：Validation</vt:lpstr>
      <vt:lpstr>ARC Visualizer的使用：Validation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Yun Lin</dc:creator>
  <cp:lastModifiedBy>教铱铱铱铱</cp:lastModifiedBy>
  <cp:revision>1968</cp:revision>
  <dcterms:created xsi:type="dcterms:W3CDTF">2016-05-08T14:39:00Z</dcterms:created>
  <dcterms:modified xsi:type="dcterms:W3CDTF">2026-09-10T05:06:14Z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3D655FEE6E254BA591EA5AEE17AAAF87_13</vt:lpwstr>
  </property>
</Properties>
</file>